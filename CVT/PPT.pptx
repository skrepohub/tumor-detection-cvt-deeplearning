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70" r:id="rId14"/>
    <p:sldId id="271"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1280"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Automated Medical Image Boundary Detection</a:t>
            </a:r>
            <a:endParaRPr dirty="0"/>
          </a:p>
        </p:txBody>
      </p:sp>
      <p:sp>
        <p:nvSpPr>
          <p:cNvPr id="3" name="Content Placeholder 2"/>
          <p:cNvSpPr>
            <a:spLocks noGrp="1"/>
          </p:cNvSpPr>
          <p:nvPr>
            <p:ph idx="1"/>
          </p:nvPr>
        </p:nvSpPr>
        <p:spPr>
          <a:xfrm>
            <a:off x="469474" y="2332038"/>
            <a:ext cx="8229600" cy="2687958"/>
          </a:xfrm>
        </p:spPr>
        <p:txBody>
          <a:bodyPr>
            <a:normAutofit/>
          </a:bodyPr>
          <a:lstStyle/>
          <a:p>
            <a:r>
              <a:rPr sz="2800" dirty="0"/>
              <a:t>Course: Computer Vision</a:t>
            </a:r>
            <a:r>
              <a:rPr lang="en-US" sz="2800" dirty="0"/>
              <a:t> Techniques</a:t>
            </a:r>
            <a:endParaRPr sz="2800" dirty="0"/>
          </a:p>
          <a:p>
            <a:r>
              <a:rPr sz="2800" dirty="0"/>
              <a:t>Name</a:t>
            </a:r>
            <a:r>
              <a:rPr lang="en-US" sz="2800" dirty="0"/>
              <a:t>: Sarathkumar Venkatesan</a:t>
            </a:r>
            <a:endParaRPr sz="2800" dirty="0"/>
          </a:p>
          <a:p>
            <a:r>
              <a:rPr sz="2800" dirty="0"/>
              <a:t>Instructor</a:t>
            </a:r>
            <a:r>
              <a:rPr lang="en-US" sz="2800" dirty="0"/>
              <a:t>: Dr Meenakshi</a:t>
            </a:r>
            <a:endParaRPr sz="2800" dirty="0"/>
          </a:p>
          <a:p>
            <a:r>
              <a:rPr sz="2800" dirty="0"/>
              <a:t>Institution</a:t>
            </a:r>
            <a:r>
              <a:rPr lang="en-US" sz="2800" dirty="0"/>
              <a:t>: SRM Institute of Science &amp; Technology</a:t>
            </a:r>
            <a:endParaRP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Statement</a:t>
            </a:r>
          </a:p>
        </p:txBody>
      </p:sp>
      <p:sp>
        <p:nvSpPr>
          <p:cNvPr id="3" name="Content Placeholder 2"/>
          <p:cNvSpPr>
            <a:spLocks noGrp="1"/>
          </p:cNvSpPr>
          <p:nvPr>
            <p:ph idx="1"/>
          </p:nvPr>
        </p:nvSpPr>
        <p:spPr>
          <a:xfrm>
            <a:off x="696539" y="2074279"/>
            <a:ext cx="8060835" cy="3105278"/>
          </a:xfrm>
        </p:spPr>
        <p:txBody>
          <a:bodyPr/>
          <a:lstStyle/>
          <a:p>
            <a:pPr marL="0" indent="0">
              <a:buNone/>
            </a:pPr>
            <a:r>
              <a:rPr lang="en-US" dirty="0"/>
              <a:t>A hospital aims to assist doctors in accurately identifying tumor boundaries in MRI images. The objective is to develop an automated system that can detect object boundaries and highlight regions of interest, enabling faster and more reliable medical diagnosis.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5" name="Content Placeholder 4">
            <a:extLst>
              <a:ext uri="{FF2B5EF4-FFF2-40B4-BE49-F238E27FC236}">
                <a16:creationId xmlns:a16="http://schemas.microsoft.com/office/drawing/2014/main" id="{0791083C-CF20-BA2B-4FB5-0F81AD774F48}"/>
              </a:ext>
            </a:extLst>
          </p:cNvPr>
          <p:cNvSpPr>
            <a:spLocks noGrp="1"/>
          </p:cNvSpPr>
          <p:nvPr>
            <p:ph idx="1"/>
          </p:nvPr>
        </p:nvSpPr>
        <p:spPr/>
        <p:txBody>
          <a:bodyPr>
            <a:normAutofit lnSpcReduction="10000"/>
          </a:bodyPr>
          <a:lstStyle/>
          <a:p>
            <a:r>
              <a:rPr lang="en-US" sz="2800" dirty="0"/>
              <a:t>Develop an automated system to detect tumor boundaries in MRI images and highlight regions of interest.</a:t>
            </a:r>
          </a:p>
          <a:p>
            <a:r>
              <a:rPr lang="en-US" sz="2800" dirty="0"/>
              <a:t>Active Contours, Level Set, Mean Shift, and Split &amp; Merge.</a:t>
            </a:r>
          </a:p>
          <a:p>
            <a:r>
              <a:rPr lang="en-US" sz="2800" dirty="0"/>
              <a:t>Perform boundary detection visualisation to identify abnormal regions clearly.</a:t>
            </a:r>
          </a:p>
          <a:p>
            <a:r>
              <a:rPr lang="en-US" sz="2800" dirty="0"/>
              <a:t>Compare segmentation methods and evaluate their accuracy using sample MRI images with performance metrics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System Overview</a:t>
            </a:r>
          </a:p>
        </p:txBody>
      </p:sp>
      <p:pic>
        <p:nvPicPr>
          <p:cNvPr id="6" name="Content Placeholder 5">
            <a:extLst>
              <a:ext uri="{FF2B5EF4-FFF2-40B4-BE49-F238E27FC236}">
                <a16:creationId xmlns:a16="http://schemas.microsoft.com/office/drawing/2014/main" id="{432F7470-47D1-A860-127B-BEBF5E183895}"/>
              </a:ext>
            </a:extLst>
          </p:cNvPr>
          <p:cNvPicPr>
            <a:picLocks noGrp="1" noChangeAspect="1"/>
          </p:cNvPicPr>
          <p:nvPr>
            <p:ph idx="1"/>
          </p:nvPr>
        </p:nvPicPr>
        <p:blipFill>
          <a:blip r:embed="rId2"/>
          <a:stretch>
            <a:fillRect/>
          </a:stretch>
        </p:blipFill>
        <p:spPr>
          <a:xfrm>
            <a:off x="632102" y="1600200"/>
            <a:ext cx="7707962" cy="4525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Methodology</a:t>
            </a:r>
          </a:p>
        </p:txBody>
      </p:sp>
      <p:sp>
        <p:nvSpPr>
          <p:cNvPr id="5" name="Content Placeholder 4">
            <a:extLst>
              <a:ext uri="{FF2B5EF4-FFF2-40B4-BE49-F238E27FC236}">
                <a16:creationId xmlns:a16="http://schemas.microsoft.com/office/drawing/2014/main" id="{03A3A91D-FA25-922A-456E-5C4956F9C3D8}"/>
              </a:ext>
            </a:extLst>
          </p:cNvPr>
          <p:cNvSpPr>
            <a:spLocks noGrp="1"/>
          </p:cNvSpPr>
          <p:nvPr>
            <p:ph idx="1"/>
          </p:nvPr>
        </p:nvSpPr>
        <p:spPr>
          <a:xfrm>
            <a:off x="457200" y="1741349"/>
            <a:ext cx="8229600" cy="4525963"/>
          </a:xfrm>
        </p:spPr>
        <p:txBody>
          <a:bodyPr/>
          <a:lstStyle/>
          <a:p>
            <a:r>
              <a:rPr lang="en-IN" dirty="0"/>
              <a:t>Image acquisition &amp; preprocessing</a:t>
            </a:r>
          </a:p>
          <a:p>
            <a:r>
              <a:rPr lang="en-US" dirty="0"/>
              <a:t>Apply multiple segmentation methods</a:t>
            </a:r>
          </a:p>
          <a:p>
            <a:r>
              <a:rPr lang="en-US" dirty="0"/>
              <a:t>Generate binary masks </a:t>
            </a:r>
          </a:p>
          <a:p>
            <a:r>
              <a:rPr lang="en-US" dirty="0"/>
              <a:t>Evaluate using </a:t>
            </a:r>
            <a:r>
              <a:rPr lang="en-US" dirty="0" err="1"/>
              <a:t>IoU</a:t>
            </a:r>
            <a:r>
              <a:rPr lang="en-US" dirty="0"/>
              <a:t>, Dice, and accuracy </a:t>
            </a:r>
          </a:p>
          <a:p>
            <a:r>
              <a:rPr lang="en-US" dirty="0"/>
              <a:t>Compare results to find the best method</a:t>
            </a:r>
            <a:endParaRPr lang="en-IN" dirty="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Techniques Used</a:t>
            </a:r>
          </a:p>
        </p:txBody>
      </p:sp>
      <p:sp>
        <p:nvSpPr>
          <p:cNvPr id="5" name="Content Placeholder 4">
            <a:extLst>
              <a:ext uri="{FF2B5EF4-FFF2-40B4-BE49-F238E27FC236}">
                <a16:creationId xmlns:a16="http://schemas.microsoft.com/office/drawing/2014/main" id="{D30381F3-AA09-399B-4C28-331B2B576345}"/>
              </a:ext>
            </a:extLst>
          </p:cNvPr>
          <p:cNvSpPr>
            <a:spLocks noGrp="1"/>
          </p:cNvSpPr>
          <p:nvPr>
            <p:ph idx="1"/>
          </p:nvPr>
        </p:nvSpPr>
        <p:spPr/>
        <p:txBody>
          <a:bodyPr>
            <a:normAutofit lnSpcReduction="10000"/>
          </a:bodyPr>
          <a:lstStyle/>
          <a:p>
            <a:r>
              <a:rPr lang="en-US" sz="2400" dirty="0"/>
              <a:t>Active Contour (Snakes): Detects object boundaries by evolving a curve towards the tumor edges. </a:t>
            </a:r>
          </a:p>
          <a:p>
            <a:pPr marL="0" indent="0">
              <a:buNone/>
            </a:pPr>
            <a:endParaRPr lang="en-US" sz="2400" dirty="0"/>
          </a:p>
          <a:p>
            <a:r>
              <a:rPr lang="en-US" sz="2400" dirty="0"/>
              <a:t>Level Set Method: Captures complex and irregular tumor shapes using contour evolution.</a:t>
            </a:r>
          </a:p>
          <a:p>
            <a:endParaRPr lang="en-US" sz="2400" dirty="0"/>
          </a:p>
          <a:p>
            <a:r>
              <a:rPr lang="en-US" sz="2400" dirty="0"/>
              <a:t>Mean Shift Segmentation: Groups pixels based on intensity similarity to identify regions. </a:t>
            </a:r>
          </a:p>
          <a:p>
            <a:endParaRPr lang="en-US" sz="2400" dirty="0"/>
          </a:p>
          <a:p>
            <a:r>
              <a:rPr lang="en-US" sz="2400" dirty="0"/>
              <a:t>Split and Merge Segmentation: Divides the image into regions and merges similar areas based on homogeneity.</a:t>
            </a:r>
            <a:endParaRPr lang="en-IN"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Algorithm Details</a:t>
            </a:r>
          </a:p>
        </p:txBody>
      </p:sp>
      <p:sp>
        <p:nvSpPr>
          <p:cNvPr id="7" name="Content Placeholder 6">
            <a:extLst>
              <a:ext uri="{FF2B5EF4-FFF2-40B4-BE49-F238E27FC236}">
                <a16:creationId xmlns:a16="http://schemas.microsoft.com/office/drawing/2014/main" id="{D9B729CC-B40F-B54A-B6F0-0A0EA106EEE1}"/>
              </a:ext>
            </a:extLst>
          </p:cNvPr>
          <p:cNvSpPr>
            <a:spLocks noGrp="1"/>
          </p:cNvSpPr>
          <p:nvPr>
            <p:ph idx="1"/>
          </p:nvPr>
        </p:nvSpPr>
        <p:spPr/>
        <p:txBody>
          <a:bodyPr>
            <a:normAutofit lnSpcReduction="10000"/>
          </a:bodyPr>
          <a:lstStyle/>
          <a:p>
            <a:r>
              <a:rPr lang="en-US" sz="2000" b="1" dirty="0"/>
              <a:t>Preprocessing</a:t>
            </a:r>
            <a:r>
              <a:rPr lang="en-US" sz="2000" dirty="0"/>
              <a:t>: Apply smoothing (Gaussian filter) and dynamic range normalization to improve image quality. </a:t>
            </a:r>
          </a:p>
          <a:p>
            <a:endParaRPr lang="en-US" sz="2000" dirty="0"/>
          </a:p>
          <a:p>
            <a:r>
              <a:rPr lang="en-US" sz="2000" b="1" dirty="0"/>
              <a:t>Active Contour (Snakes)</a:t>
            </a:r>
            <a:r>
              <a:rPr lang="en-US" sz="2000" dirty="0"/>
              <a:t>: Initializes a contour and iteratively moves it to fit the tumor boundary.</a:t>
            </a:r>
          </a:p>
          <a:p>
            <a:endParaRPr lang="en-US" sz="2000" dirty="0"/>
          </a:p>
          <a:p>
            <a:r>
              <a:rPr lang="en-US" sz="2000" b="1" dirty="0"/>
              <a:t>Level Set Method</a:t>
            </a:r>
            <a:r>
              <a:rPr lang="en-US" sz="2000" dirty="0"/>
              <a:t>: Evolves contours to detect complex and irregular shapes. </a:t>
            </a:r>
          </a:p>
          <a:p>
            <a:endParaRPr lang="en-US" sz="2000" dirty="0"/>
          </a:p>
          <a:p>
            <a:r>
              <a:rPr lang="en-US" sz="2000" b="1" dirty="0"/>
              <a:t>Mean Shift Segmentation</a:t>
            </a:r>
            <a:r>
              <a:rPr lang="en-US" sz="2000" dirty="0"/>
              <a:t>: Clusters pixels based on intensity (image resized for efficient processing). </a:t>
            </a:r>
          </a:p>
          <a:p>
            <a:endParaRPr lang="en-US" sz="2000" dirty="0"/>
          </a:p>
          <a:p>
            <a:r>
              <a:rPr lang="en-US" sz="2000" b="1" dirty="0"/>
              <a:t>Split &amp; Merge</a:t>
            </a:r>
            <a:r>
              <a:rPr lang="en-US" sz="2000" dirty="0"/>
              <a:t>: Divides the image into regions and merges similar areas based on uniformity.</a:t>
            </a:r>
            <a:endParaRPr lang="en-I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Implementation</a:t>
            </a:r>
          </a:p>
        </p:txBody>
      </p:sp>
      <p:pic>
        <p:nvPicPr>
          <p:cNvPr id="6" name="Picture 5">
            <a:extLst>
              <a:ext uri="{FF2B5EF4-FFF2-40B4-BE49-F238E27FC236}">
                <a16:creationId xmlns:a16="http://schemas.microsoft.com/office/drawing/2014/main" id="{0C6F54FB-4A3D-3B84-9322-44F64605E499}"/>
              </a:ext>
            </a:extLst>
          </p:cNvPr>
          <p:cNvPicPr>
            <a:picLocks noChangeAspect="1"/>
          </p:cNvPicPr>
          <p:nvPr/>
        </p:nvPicPr>
        <p:blipFill>
          <a:blip r:embed="rId2"/>
          <a:stretch>
            <a:fillRect/>
          </a:stretch>
        </p:blipFill>
        <p:spPr>
          <a:xfrm>
            <a:off x="840929" y="1417639"/>
            <a:ext cx="3025326" cy="2499438"/>
          </a:xfrm>
          <a:prstGeom prst="rect">
            <a:avLst/>
          </a:prstGeom>
        </p:spPr>
      </p:pic>
      <p:pic>
        <p:nvPicPr>
          <p:cNvPr id="8" name="Picture 7">
            <a:extLst>
              <a:ext uri="{FF2B5EF4-FFF2-40B4-BE49-F238E27FC236}">
                <a16:creationId xmlns:a16="http://schemas.microsoft.com/office/drawing/2014/main" id="{11087564-CFC0-454F-2FAD-6D41ED6E2D18}"/>
              </a:ext>
            </a:extLst>
          </p:cNvPr>
          <p:cNvPicPr>
            <a:picLocks noChangeAspect="1"/>
          </p:cNvPicPr>
          <p:nvPr/>
        </p:nvPicPr>
        <p:blipFill>
          <a:blip r:embed="rId3"/>
          <a:stretch>
            <a:fillRect/>
          </a:stretch>
        </p:blipFill>
        <p:spPr>
          <a:xfrm>
            <a:off x="4363654" y="1417639"/>
            <a:ext cx="3822988" cy="2499438"/>
          </a:xfrm>
          <a:prstGeom prst="rect">
            <a:avLst/>
          </a:prstGeom>
        </p:spPr>
      </p:pic>
      <p:pic>
        <p:nvPicPr>
          <p:cNvPr id="10" name="Picture 9">
            <a:extLst>
              <a:ext uri="{FF2B5EF4-FFF2-40B4-BE49-F238E27FC236}">
                <a16:creationId xmlns:a16="http://schemas.microsoft.com/office/drawing/2014/main" id="{2F69A518-7174-DE3A-51CE-ADAF50120149}"/>
              </a:ext>
            </a:extLst>
          </p:cNvPr>
          <p:cNvPicPr>
            <a:picLocks noChangeAspect="1"/>
          </p:cNvPicPr>
          <p:nvPr/>
        </p:nvPicPr>
        <p:blipFill>
          <a:blip r:embed="rId4"/>
          <a:stretch>
            <a:fillRect/>
          </a:stretch>
        </p:blipFill>
        <p:spPr>
          <a:xfrm>
            <a:off x="840929" y="4054778"/>
            <a:ext cx="3025325" cy="2364433"/>
          </a:xfrm>
          <a:prstGeom prst="rect">
            <a:avLst/>
          </a:prstGeom>
        </p:spPr>
      </p:pic>
      <p:pic>
        <p:nvPicPr>
          <p:cNvPr id="12" name="Picture 11">
            <a:extLst>
              <a:ext uri="{FF2B5EF4-FFF2-40B4-BE49-F238E27FC236}">
                <a16:creationId xmlns:a16="http://schemas.microsoft.com/office/drawing/2014/main" id="{E8948494-A016-791B-3104-FAB8A4CED7E0}"/>
              </a:ext>
            </a:extLst>
          </p:cNvPr>
          <p:cNvPicPr>
            <a:picLocks noChangeAspect="1"/>
          </p:cNvPicPr>
          <p:nvPr/>
        </p:nvPicPr>
        <p:blipFill>
          <a:blip r:embed="rId5"/>
          <a:stretch>
            <a:fillRect/>
          </a:stretch>
        </p:blipFill>
        <p:spPr>
          <a:xfrm>
            <a:off x="4363654" y="4153359"/>
            <a:ext cx="3822988" cy="21672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pic>
        <p:nvPicPr>
          <p:cNvPr id="5" name="Content Placeholder 4">
            <a:extLst>
              <a:ext uri="{FF2B5EF4-FFF2-40B4-BE49-F238E27FC236}">
                <a16:creationId xmlns:a16="http://schemas.microsoft.com/office/drawing/2014/main" id="{B3BA9699-3979-8FCD-D3D0-653CC256307A}"/>
              </a:ext>
            </a:extLst>
          </p:cNvPr>
          <p:cNvPicPr>
            <a:picLocks noGrp="1" noChangeAspect="1"/>
          </p:cNvPicPr>
          <p:nvPr>
            <p:ph idx="1"/>
          </p:nvPr>
        </p:nvPicPr>
        <p:blipFill>
          <a:blip r:embed="rId2"/>
          <a:stretch>
            <a:fillRect/>
          </a:stretch>
        </p:blipFill>
        <p:spPr>
          <a:xfrm>
            <a:off x="457200" y="3765960"/>
            <a:ext cx="8229600" cy="1514379"/>
          </a:xfrm>
          <a:prstGeom prst="rect">
            <a:avLst/>
          </a:prstGeom>
        </p:spPr>
      </p:pic>
      <p:pic>
        <p:nvPicPr>
          <p:cNvPr id="7" name="Picture 6">
            <a:extLst>
              <a:ext uri="{FF2B5EF4-FFF2-40B4-BE49-F238E27FC236}">
                <a16:creationId xmlns:a16="http://schemas.microsoft.com/office/drawing/2014/main" id="{0B5017D8-F4F9-7974-047D-92D14E0E1450}"/>
              </a:ext>
            </a:extLst>
          </p:cNvPr>
          <p:cNvPicPr>
            <a:picLocks noChangeAspect="1"/>
          </p:cNvPicPr>
          <p:nvPr/>
        </p:nvPicPr>
        <p:blipFill>
          <a:blip r:embed="rId3"/>
          <a:stretch>
            <a:fillRect/>
          </a:stretch>
        </p:blipFill>
        <p:spPr>
          <a:xfrm>
            <a:off x="2475184" y="1731084"/>
            <a:ext cx="3950163" cy="14542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Performance Analysis</a:t>
            </a:r>
          </a:p>
        </p:txBody>
      </p:sp>
      <p:pic>
        <p:nvPicPr>
          <p:cNvPr id="5" name="Content Placeholder 4">
            <a:extLst>
              <a:ext uri="{FF2B5EF4-FFF2-40B4-BE49-F238E27FC236}">
                <a16:creationId xmlns:a16="http://schemas.microsoft.com/office/drawing/2014/main" id="{67CEE028-C08D-5E00-9558-9F63B3022FEF}"/>
              </a:ext>
            </a:extLst>
          </p:cNvPr>
          <p:cNvPicPr>
            <a:picLocks noGrp="1" noChangeAspect="1"/>
          </p:cNvPicPr>
          <p:nvPr>
            <p:ph idx="1"/>
          </p:nvPr>
        </p:nvPicPr>
        <p:blipFill>
          <a:blip r:embed="rId2"/>
          <a:stretch>
            <a:fillRect/>
          </a:stretch>
        </p:blipFill>
        <p:spPr>
          <a:xfrm>
            <a:off x="515501" y="2353375"/>
            <a:ext cx="7830700" cy="238137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a:t>
            </a:r>
          </a:p>
        </p:txBody>
      </p:sp>
      <p:sp>
        <p:nvSpPr>
          <p:cNvPr id="3" name="Content Placeholder 2"/>
          <p:cNvSpPr>
            <a:spLocks noGrp="1"/>
          </p:cNvSpPr>
          <p:nvPr>
            <p:ph idx="1"/>
          </p:nvPr>
        </p:nvSpPr>
        <p:spPr>
          <a:xfrm>
            <a:off x="457200" y="1716801"/>
            <a:ext cx="8229600" cy="4525963"/>
          </a:xfrm>
        </p:spPr>
        <p:txBody>
          <a:bodyPr>
            <a:normAutofit/>
          </a:bodyPr>
          <a:lstStyle/>
          <a:p>
            <a:r>
              <a:rPr lang="en-US" dirty="0"/>
              <a:t>Automated detection</a:t>
            </a:r>
          </a:p>
          <a:p>
            <a:r>
              <a:rPr lang="en-US" dirty="0"/>
              <a:t>Improved accuracy</a:t>
            </a:r>
          </a:p>
          <a:p>
            <a:r>
              <a:rPr lang="en-US" dirty="0"/>
              <a:t>Better visualization</a:t>
            </a:r>
          </a:p>
          <a:p>
            <a:r>
              <a:rPr lang="en-US" dirty="0"/>
              <a:t>Comparative analysis</a:t>
            </a:r>
          </a:p>
          <a:p>
            <a:r>
              <a:rPr lang="en-US" dirty="0"/>
              <a:t>Efficient processing</a:t>
            </a:r>
          </a:p>
          <a:p>
            <a:r>
              <a:rPr lang="en-US" dirty="0"/>
              <a:t>Supports medical diagnosis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a:lstStyle/>
          <a:p>
            <a:r>
              <a:rPr lang="en-US" dirty="0"/>
              <a:t>Sensitive to noise and contrast </a:t>
            </a:r>
          </a:p>
          <a:p>
            <a:r>
              <a:rPr lang="en-US" dirty="0"/>
              <a:t>Requires parameter tuning </a:t>
            </a:r>
          </a:p>
          <a:p>
            <a:r>
              <a:rPr lang="en-US" dirty="0"/>
              <a:t>Computationally expensive (Mean Shift)</a:t>
            </a:r>
          </a:p>
          <a:p>
            <a:r>
              <a:rPr lang="en-US" dirty="0"/>
              <a:t>Initialization issues (Snakes) </a:t>
            </a:r>
          </a:p>
          <a:p>
            <a:r>
              <a:rPr lang="en-US" dirty="0"/>
              <a:t>May struggle with complex boundaries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457200" y="1962278"/>
            <a:ext cx="8229600" cy="4525963"/>
          </a:xfrm>
        </p:spPr>
        <p:txBody>
          <a:bodyPr/>
          <a:lstStyle/>
          <a:p>
            <a:r>
              <a:rPr lang="en-US" dirty="0"/>
              <a:t>Developed an automated tumor detection system </a:t>
            </a:r>
          </a:p>
          <a:p>
            <a:r>
              <a:rPr lang="en-US" dirty="0"/>
              <a:t>Compared multiple segmentation methods</a:t>
            </a:r>
          </a:p>
          <a:p>
            <a:r>
              <a:rPr lang="en-US" dirty="0"/>
              <a:t>Evaluated using standard metrics </a:t>
            </a:r>
          </a:p>
          <a:p>
            <a:r>
              <a:rPr lang="en-US" dirty="0"/>
              <a:t>Identified best performing technique</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19D1F-0764-6B28-1584-94AB04613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8C027-6584-8408-A0A9-DB31F5D45CD5}"/>
              </a:ext>
            </a:extLst>
          </p:cNvPr>
          <p:cNvSpPr>
            <a:spLocks noGrp="1"/>
          </p:cNvSpPr>
          <p:nvPr>
            <p:ph type="title"/>
          </p:nvPr>
        </p:nvSpPr>
        <p:spPr>
          <a:xfrm>
            <a:off x="457200" y="2809183"/>
            <a:ext cx="8229600" cy="1143000"/>
          </a:xfrm>
        </p:spPr>
        <p:txBody>
          <a:bodyPr/>
          <a:lstStyle/>
          <a:p>
            <a:r>
              <a:rPr lang="en-US" dirty="0"/>
              <a:t>Thank you</a:t>
            </a:r>
            <a:endParaRPr dirty="0"/>
          </a:p>
        </p:txBody>
      </p:sp>
    </p:spTree>
    <p:extLst>
      <p:ext uri="{BB962C8B-B14F-4D97-AF65-F5344CB8AC3E}">
        <p14:creationId xmlns:p14="http://schemas.microsoft.com/office/powerpoint/2010/main" val="1205104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85</TotalTime>
  <Words>367</Words>
  <Application>Microsoft Office PowerPoint</Application>
  <PresentationFormat>On-screen Show (4:3)</PresentationFormat>
  <Paragraphs>59</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Automated Medical Image Boundary Detection</vt:lpstr>
      <vt:lpstr>Problem Statement</vt:lpstr>
      <vt:lpstr>Objectives</vt:lpstr>
      <vt:lpstr>System Overview</vt:lpstr>
      <vt:lpstr>Methodology</vt:lpstr>
      <vt:lpstr>Techniques Used</vt:lpstr>
      <vt:lpstr>Algorithm Details</vt:lpstr>
      <vt:lpstr>Implementation</vt:lpstr>
      <vt:lpstr>Results</vt:lpstr>
      <vt:lpstr>Performance Analysis</vt:lpstr>
      <vt:lpstr>Advantages</vt:lpstr>
      <vt:lpstr>Limitations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keywords/>
  <dc:description>generated using python-pptx</dc:description>
  <cp:lastModifiedBy>Sarathkumar Venkatesan</cp:lastModifiedBy>
  <cp:revision>7</cp:revision>
  <dcterms:created xsi:type="dcterms:W3CDTF">2013-01-27T09:14:16Z</dcterms:created>
  <dcterms:modified xsi:type="dcterms:W3CDTF">2026-04-11T03:40:54Z</dcterms:modified>
  <cp:category/>
</cp:coreProperties>
</file>